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2" r:id="rId6"/>
    <p:sldId id="263" r:id="rId7"/>
    <p:sldId id="260" r:id="rId8"/>
    <p:sldId id="264" r:id="rId9"/>
    <p:sldId id="265" r:id="rId10"/>
    <p:sldId id="261" r:id="rId11"/>
    <p:sldId id="266" r:id="rId12"/>
    <p:sldId id="267" r:id="rId13"/>
    <p:sldId id="268" r:id="rId14"/>
    <p:sldId id="269" r:id="rId15"/>
    <p:sldId id="270" r:id="rId16"/>
    <p:sldId id="271" r:id="rId17"/>
  </p:sldIdLst>
  <p:sldSz cx="9144000" cy="6858000" type="screen4x3"/>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41" autoAdjust="0"/>
    <p:restoredTop sz="94660"/>
  </p:normalViewPr>
  <p:slideViewPr>
    <p:cSldViewPr showGuides="1">
      <p:cViewPr varScale="1">
        <p:scale>
          <a:sx n="67" d="100"/>
          <a:sy n="67" d="100"/>
        </p:scale>
        <p:origin x="1194" y="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a:prstGeom prst="rect">
            <a:avLst/>
          </a:prstGeom>
        </p:spPr>
        <p:txBody>
          <a:bodyPr/>
          <a:lstStyle/>
          <a:p>
            <a:r>
              <a:rPr lang="es-ES" smtClean="0"/>
              <a:t>Haga clic para modificar el estilo de título del patrón</a:t>
            </a:r>
            <a:endParaRPr lang="es-CO"/>
          </a:p>
        </p:txBody>
      </p:sp>
      <p:sp>
        <p:nvSpPr>
          <p:cNvPr id="3" name="2 Subtítulo"/>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s-ES" smtClean="0"/>
              <a:t>Haga clic para modificar el estilo de subtítulo del patrón</a:t>
            </a:r>
            <a:endParaRPr lang="es-CO"/>
          </a:p>
        </p:txBody>
      </p:sp>
    </p:spTree>
    <p:extLst>
      <p:ext uri="{BB962C8B-B14F-4D97-AF65-F5344CB8AC3E}">
        <p14:creationId xmlns:p14="http://schemas.microsoft.com/office/powerpoint/2010/main" val="501597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smtClean="0"/>
              <a:t>Haga clic para modificar el estilo de título del patrón</a:t>
            </a:r>
            <a:endParaRPr lang="es-CO"/>
          </a:p>
        </p:txBody>
      </p:sp>
      <p:sp>
        <p:nvSpPr>
          <p:cNvPr id="3" name="2 Marcador de contenido"/>
          <p:cNvSpPr>
            <a:spLocks noGrp="1"/>
          </p:cNvSpPr>
          <p:nvPr>
            <p:ph idx="1"/>
          </p:nvPr>
        </p:nvSpPr>
        <p:spPr>
          <a:xfrm>
            <a:off x="457200" y="1600200"/>
            <a:ext cx="8229600" cy="4525963"/>
          </a:xfrm>
          <a:prstGeom prst="rect">
            <a:avLst/>
          </a:prstGeo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Tree>
    <p:extLst>
      <p:ext uri="{BB962C8B-B14F-4D97-AF65-F5344CB8AC3E}">
        <p14:creationId xmlns:p14="http://schemas.microsoft.com/office/powerpoint/2010/main" val="20890159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s-ES" smtClean="0"/>
              <a:t>Haga clic para modificar el estilo de título del patrón</a:t>
            </a:r>
            <a:endParaRPr lang="es-CO"/>
          </a:p>
        </p:txBody>
      </p:sp>
      <p:sp>
        <p:nvSpPr>
          <p:cNvPr id="3" name="2 Marcador de texto"/>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smtClean="0"/>
              <a:t>Haga clic para modificar el estilo de texto del patrón</a:t>
            </a:r>
          </a:p>
        </p:txBody>
      </p:sp>
    </p:spTree>
    <p:extLst>
      <p:ext uri="{BB962C8B-B14F-4D97-AF65-F5344CB8AC3E}">
        <p14:creationId xmlns:p14="http://schemas.microsoft.com/office/powerpoint/2010/main" val="519948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smtClean="0"/>
              <a:t>Haga clic para modificar el estilo de título del patrón</a:t>
            </a:r>
            <a:endParaRPr lang="es-CO"/>
          </a:p>
        </p:txBody>
      </p:sp>
      <p:sp>
        <p:nvSpPr>
          <p:cNvPr id="3" name="2 Marcador de contenido"/>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4" name="3 Marcador de contenido"/>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Tree>
    <p:extLst>
      <p:ext uri="{BB962C8B-B14F-4D97-AF65-F5344CB8AC3E}">
        <p14:creationId xmlns:p14="http://schemas.microsoft.com/office/powerpoint/2010/main" val="37462530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lvl1pPr>
              <a:defRPr/>
            </a:lvl1pPr>
          </a:lstStyle>
          <a:p>
            <a:r>
              <a:rPr lang="es-ES" smtClean="0"/>
              <a:t>Haga clic para modificar el estilo de título del patrón</a:t>
            </a:r>
            <a:endParaRPr lang="es-CO"/>
          </a:p>
        </p:txBody>
      </p:sp>
      <p:sp>
        <p:nvSpPr>
          <p:cNvPr id="3" name="2 Marcador de texto"/>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5" name="4 Marcador de texto"/>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Tree>
    <p:extLst>
      <p:ext uri="{BB962C8B-B14F-4D97-AF65-F5344CB8AC3E}">
        <p14:creationId xmlns:p14="http://schemas.microsoft.com/office/powerpoint/2010/main" val="3969871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smtClean="0"/>
              <a:t>Haga clic para modificar el estilo de título del patrón</a:t>
            </a:r>
            <a:endParaRPr lang="es-CO"/>
          </a:p>
        </p:txBody>
      </p:sp>
    </p:spTree>
    <p:extLst>
      <p:ext uri="{BB962C8B-B14F-4D97-AF65-F5344CB8AC3E}">
        <p14:creationId xmlns:p14="http://schemas.microsoft.com/office/powerpoint/2010/main" val="295833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460035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a:prstGeom prst="rect">
            <a:avLst/>
          </a:prstGeom>
        </p:spPr>
        <p:txBody>
          <a:bodyPr anchor="b"/>
          <a:lstStyle>
            <a:lvl1pPr algn="l">
              <a:defRPr sz="2000" b="1"/>
            </a:lvl1pPr>
          </a:lstStyle>
          <a:p>
            <a:r>
              <a:rPr lang="es-ES" smtClean="0"/>
              <a:t>Haga clic para modificar el estilo de título del patrón</a:t>
            </a:r>
            <a:endParaRPr lang="es-CO"/>
          </a:p>
        </p:txBody>
      </p:sp>
      <p:sp>
        <p:nvSpPr>
          <p:cNvPr id="3" name="2 Marcador de contenido"/>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4" name="3 Marcador de texto"/>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Tree>
    <p:extLst>
      <p:ext uri="{BB962C8B-B14F-4D97-AF65-F5344CB8AC3E}">
        <p14:creationId xmlns:p14="http://schemas.microsoft.com/office/powerpoint/2010/main" val="1127351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a:prstGeom prst="rect">
            <a:avLst/>
          </a:prstGeom>
        </p:spPr>
        <p:txBody>
          <a:bodyPr anchor="b"/>
          <a:lstStyle>
            <a:lvl1pPr algn="l">
              <a:defRPr sz="2000" b="1"/>
            </a:lvl1pPr>
          </a:lstStyle>
          <a:p>
            <a:r>
              <a:rPr lang="es-ES" smtClean="0"/>
              <a:t>Haga clic para modificar el estilo de título del patrón</a:t>
            </a:r>
            <a:endParaRPr lang="es-CO"/>
          </a:p>
        </p:txBody>
      </p:sp>
      <p:sp>
        <p:nvSpPr>
          <p:cNvPr id="3" name="2 Marcador de posición de imagen"/>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smtClean="0"/>
              <a:t>Haga clic en el icono para agregar una imagen</a:t>
            </a:r>
            <a:endParaRPr lang="es-CO"/>
          </a:p>
        </p:txBody>
      </p:sp>
      <p:sp>
        <p:nvSpPr>
          <p:cNvPr id="4" name="3 Marcador de texto"/>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Tree>
    <p:extLst>
      <p:ext uri="{BB962C8B-B14F-4D97-AF65-F5344CB8AC3E}">
        <p14:creationId xmlns:p14="http://schemas.microsoft.com/office/powerpoint/2010/main" val="22723928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smtClean="0"/>
              <a:t>Haga clic para modificar el estilo de título del patrón</a:t>
            </a:r>
            <a:endParaRPr lang="es-CO"/>
          </a:p>
        </p:txBody>
      </p:sp>
      <p:sp>
        <p:nvSpPr>
          <p:cNvPr id="3" name="2 Marcador de texto vertical"/>
          <p:cNvSpPr>
            <a:spLocks noGrp="1"/>
          </p:cNvSpPr>
          <p:nvPr>
            <p:ph type="body" orient="vert" idx="1"/>
          </p:nvPr>
        </p:nvSpPr>
        <p:spPr>
          <a:xfrm>
            <a:off x="457200" y="1600200"/>
            <a:ext cx="8229600" cy="4525963"/>
          </a:xfrm>
          <a:prstGeom prst="rect">
            <a:avLst/>
          </a:prstGeo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Tree>
    <p:extLst>
      <p:ext uri="{BB962C8B-B14F-4D97-AF65-F5344CB8AC3E}">
        <p14:creationId xmlns:p14="http://schemas.microsoft.com/office/powerpoint/2010/main" val="2381870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a:prstGeom prst="rect">
            <a:avLst/>
          </a:prstGeom>
        </p:spPr>
        <p:txBody>
          <a:bodyPr vert="eaVert"/>
          <a:lstStyle/>
          <a:p>
            <a:r>
              <a:rPr lang="es-ES" smtClean="0"/>
              <a:t>Haga clic para modificar el estilo de título del patrón</a:t>
            </a:r>
            <a:endParaRPr lang="es-CO"/>
          </a:p>
        </p:txBody>
      </p:sp>
      <p:sp>
        <p:nvSpPr>
          <p:cNvPr id="3" name="2 Marcador de texto vertical"/>
          <p:cNvSpPr>
            <a:spLocks noGrp="1"/>
          </p:cNvSpPr>
          <p:nvPr>
            <p:ph type="body" orient="vert" idx="1"/>
          </p:nvPr>
        </p:nvSpPr>
        <p:spPr>
          <a:xfrm>
            <a:off x="457200" y="274638"/>
            <a:ext cx="6019800" cy="5851525"/>
          </a:xfrm>
          <a:prstGeom prst="rect">
            <a:avLst/>
          </a:prstGeo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Tree>
    <p:extLst>
      <p:ext uri="{BB962C8B-B14F-4D97-AF65-F5344CB8AC3E}">
        <p14:creationId xmlns:p14="http://schemas.microsoft.com/office/powerpoint/2010/main" val="40160196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56" name="Picture 32" descr="n,vbn ytkj"/>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032" name="Text Box 8"/>
          <p:cNvSpPr txBox="1">
            <a:spLocks noChangeArrowheads="1"/>
          </p:cNvSpPr>
          <p:nvPr/>
        </p:nvSpPr>
        <p:spPr bwMode="auto">
          <a:xfrm>
            <a:off x="7962900" y="6375400"/>
            <a:ext cx="10731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b="1"/>
              <a:t>Page </a:t>
            </a:r>
            <a:fld id="{185B1A1C-A29B-4E95-85D3-D32D88F460BC}" type="slidenum">
              <a:rPr lang="fr-FR" b="1"/>
              <a:pPr/>
              <a:t>‹Nº›</a:t>
            </a:fld>
            <a:endParaRPr lang="fr-FR" b="1"/>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cs typeface="Arial" charset="0"/>
        </a:defRPr>
      </a:lvl2pPr>
      <a:lvl3pPr algn="ctr" rtl="0" eaLnBrk="1" fontAlgn="base" hangingPunct="1">
        <a:spcBef>
          <a:spcPct val="0"/>
        </a:spcBef>
        <a:spcAft>
          <a:spcPct val="0"/>
        </a:spcAft>
        <a:defRPr sz="4400">
          <a:solidFill>
            <a:schemeClr val="tx2"/>
          </a:solidFill>
          <a:latin typeface="Arial" charset="0"/>
          <a:cs typeface="Arial" charset="0"/>
        </a:defRPr>
      </a:lvl3pPr>
      <a:lvl4pPr algn="ctr" rtl="0" eaLnBrk="1" fontAlgn="base" hangingPunct="1">
        <a:spcBef>
          <a:spcPct val="0"/>
        </a:spcBef>
        <a:spcAft>
          <a:spcPct val="0"/>
        </a:spcAft>
        <a:defRPr sz="4400">
          <a:solidFill>
            <a:schemeClr val="tx2"/>
          </a:solidFill>
          <a:latin typeface="Arial" charset="0"/>
          <a:cs typeface="Arial" charset="0"/>
        </a:defRPr>
      </a:lvl4pPr>
      <a:lvl5pPr algn="ctr" rtl="0" eaLnBrk="1" fontAlgn="base" hangingPunct="1">
        <a:spcBef>
          <a:spcPct val="0"/>
        </a:spcBef>
        <a:spcAft>
          <a:spcPct val="0"/>
        </a:spcAft>
        <a:defRPr sz="4400">
          <a:solidFill>
            <a:schemeClr val="tx2"/>
          </a:solidFill>
          <a:latin typeface="Arial" charset="0"/>
          <a:cs typeface="Arial" charset="0"/>
        </a:defRPr>
      </a:lvl5pPr>
      <a:lvl6pPr marL="457200" algn="ctr" rtl="0" eaLnBrk="1" fontAlgn="base" hangingPunct="1">
        <a:spcBef>
          <a:spcPct val="0"/>
        </a:spcBef>
        <a:spcAft>
          <a:spcPct val="0"/>
        </a:spcAft>
        <a:defRPr sz="4400">
          <a:solidFill>
            <a:schemeClr val="tx2"/>
          </a:solidFill>
          <a:latin typeface="Arial" charset="0"/>
          <a:cs typeface="Arial" charset="0"/>
        </a:defRPr>
      </a:lvl6pPr>
      <a:lvl7pPr marL="914400" algn="ctr" rtl="0" eaLnBrk="1" fontAlgn="base" hangingPunct="1">
        <a:spcBef>
          <a:spcPct val="0"/>
        </a:spcBef>
        <a:spcAft>
          <a:spcPct val="0"/>
        </a:spcAft>
        <a:defRPr sz="4400">
          <a:solidFill>
            <a:schemeClr val="tx2"/>
          </a:solidFill>
          <a:latin typeface="Arial" charset="0"/>
          <a:cs typeface="Arial" charset="0"/>
        </a:defRPr>
      </a:lvl7pPr>
      <a:lvl8pPr marL="1371600" algn="ctr" rtl="0" eaLnBrk="1" fontAlgn="base" hangingPunct="1">
        <a:spcBef>
          <a:spcPct val="0"/>
        </a:spcBef>
        <a:spcAft>
          <a:spcPct val="0"/>
        </a:spcAft>
        <a:defRPr sz="4400">
          <a:solidFill>
            <a:schemeClr val="tx2"/>
          </a:solidFill>
          <a:latin typeface="Arial" charset="0"/>
          <a:cs typeface="Arial" charset="0"/>
        </a:defRPr>
      </a:lvl8pPr>
      <a:lvl9pPr marL="1828800" algn="ctr" rtl="0" eaLnBrk="1" fontAlgn="base" hangingPunct="1">
        <a:spcBef>
          <a:spcPct val="0"/>
        </a:spcBef>
        <a:spcAft>
          <a:spcPct val="0"/>
        </a:spcAft>
        <a:defRPr sz="4400">
          <a:solidFill>
            <a:schemeClr val="tx2"/>
          </a:solidFill>
          <a:latin typeface="Arial" charset="0"/>
          <a:cs typeface="Arial"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cs typeface="+mn-cs"/>
        </a:defRPr>
      </a:lvl2pPr>
      <a:lvl3pPr marL="1143000" indent="-228600" algn="l" rtl="0" eaLnBrk="1" fontAlgn="base" hangingPunct="1">
        <a:spcBef>
          <a:spcPct val="20000"/>
        </a:spcBef>
        <a:spcAft>
          <a:spcPct val="0"/>
        </a:spcAft>
        <a:buChar char="•"/>
        <a:defRPr sz="2400">
          <a:solidFill>
            <a:schemeClr val="tx1"/>
          </a:solidFill>
          <a:latin typeface="+mn-lt"/>
          <a:cs typeface="+mn-cs"/>
        </a:defRPr>
      </a:lvl3pPr>
      <a:lvl4pPr marL="1600200" indent="-228600" algn="l" rtl="0" eaLnBrk="1" fontAlgn="base" hangingPunct="1">
        <a:spcBef>
          <a:spcPct val="20000"/>
        </a:spcBef>
        <a:spcAft>
          <a:spcPct val="0"/>
        </a:spcAft>
        <a:buChar char="–"/>
        <a:defRPr sz="2000">
          <a:solidFill>
            <a:schemeClr val="tx1"/>
          </a:solidFill>
          <a:latin typeface="+mn-lt"/>
          <a:cs typeface="+mn-cs"/>
        </a:defRPr>
      </a:lvl4pPr>
      <a:lvl5pPr marL="2057400" indent="-228600" algn="l" rtl="0" eaLnBrk="1" fontAlgn="base" hangingPunct="1">
        <a:spcBef>
          <a:spcPct val="20000"/>
        </a:spcBef>
        <a:spcAft>
          <a:spcPct val="0"/>
        </a:spcAft>
        <a:buChar char="»"/>
        <a:defRPr sz="2000">
          <a:solidFill>
            <a:schemeClr val="tx1"/>
          </a:solidFill>
          <a:latin typeface="+mn-lt"/>
          <a:cs typeface="+mn-cs"/>
        </a:defRPr>
      </a:lvl5pPr>
      <a:lvl6pPr marL="2514600" indent="-228600" algn="l" rtl="0" eaLnBrk="1" fontAlgn="base" hangingPunct="1">
        <a:spcBef>
          <a:spcPct val="20000"/>
        </a:spcBef>
        <a:spcAft>
          <a:spcPct val="0"/>
        </a:spcAft>
        <a:buChar char="»"/>
        <a:defRPr sz="2000">
          <a:solidFill>
            <a:schemeClr val="tx1"/>
          </a:solidFill>
          <a:latin typeface="+mn-lt"/>
          <a:cs typeface="+mn-cs"/>
        </a:defRPr>
      </a:lvl6pPr>
      <a:lvl7pPr marL="2971800" indent="-228600" algn="l" rtl="0" eaLnBrk="1" fontAlgn="base" hangingPunct="1">
        <a:spcBef>
          <a:spcPct val="20000"/>
        </a:spcBef>
        <a:spcAft>
          <a:spcPct val="0"/>
        </a:spcAft>
        <a:buChar char="»"/>
        <a:defRPr sz="2000">
          <a:solidFill>
            <a:schemeClr val="tx1"/>
          </a:solidFill>
          <a:latin typeface="+mn-lt"/>
          <a:cs typeface="+mn-cs"/>
        </a:defRPr>
      </a:lvl7pPr>
      <a:lvl8pPr marL="3429000" indent="-228600" algn="l" rtl="0" eaLnBrk="1" fontAlgn="base" hangingPunct="1">
        <a:spcBef>
          <a:spcPct val="20000"/>
        </a:spcBef>
        <a:spcAft>
          <a:spcPct val="0"/>
        </a:spcAft>
        <a:buChar char="»"/>
        <a:defRPr sz="2000">
          <a:solidFill>
            <a:schemeClr val="tx1"/>
          </a:solidFill>
          <a:latin typeface="+mn-lt"/>
          <a:cs typeface="+mn-cs"/>
        </a:defRPr>
      </a:lvl8pPr>
      <a:lvl9pPr marL="3886200" indent="-228600" algn="l" rtl="0" eaLnBrk="1" fontAlgn="base" hangingPunct="1">
        <a:spcBef>
          <a:spcPct val="20000"/>
        </a:spcBef>
        <a:spcAft>
          <a:spcPct val="0"/>
        </a:spcAft>
        <a:buChar char="»"/>
        <a:defRPr sz="2000">
          <a:solidFill>
            <a:schemeClr val="tx1"/>
          </a:solidFill>
          <a:latin typeface="+mn-lt"/>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1916833"/>
            <a:ext cx="7772400" cy="1683618"/>
          </a:xfrm>
        </p:spPr>
        <p:txBody>
          <a:bodyPr/>
          <a:lstStyle/>
          <a:p>
            <a:r>
              <a:rPr lang="es-CO" sz="5400" b="1" dirty="0" smtClean="0">
                <a:effectLst>
                  <a:outerShdw blurRad="38100" dist="38100" dir="2700000" algn="tl">
                    <a:srgbClr val="000000">
                      <a:alpha val="43137"/>
                    </a:srgbClr>
                  </a:outerShdw>
                </a:effectLst>
              </a:rPr>
              <a:t>APLICACIONES LEYES DE KIRCHOFF</a:t>
            </a:r>
            <a:endParaRPr lang="es-CO" sz="5400" b="1" dirty="0">
              <a:effectLst>
                <a:outerShdw blurRad="38100" dist="38100" dir="2700000" algn="tl">
                  <a:srgbClr val="000000">
                    <a:alpha val="43137"/>
                  </a:srgbClr>
                </a:outerShdw>
              </a:effectLst>
            </a:endParaRPr>
          </a:p>
        </p:txBody>
      </p:sp>
      <p:sp>
        <p:nvSpPr>
          <p:cNvPr id="3" name="2 Subtítulo"/>
          <p:cNvSpPr>
            <a:spLocks noGrp="1"/>
          </p:cNvSpPr>
          <p:nvPr>
            <p:ph type="subTitle" idx="1"/>
          </p:nvPr>
        </p:nvSpPr>
        <p:spPr>
          <a:xfrm>
            <a:off x="251520" y="3886200"/>
            <a:ext cx="8640960" cy="2207096"/>
          </a:xfrm>
        </p:spPr>
        <p:txBody>
          <a:bodyPr/>
          <a:lstStyle/>
          <a:p>
            <a:r>
              <a:rPr lang="es-CO" sz="2900" b="1" dirty="0" smtClean="0">
                <a:effectLst>
                  <a:outerShdw blurRad="38100" dist="38100" dir="2700000" algn="tl">
                    <a:srgbClr val="000000">
                      <a:alpha val="43137"/>
                    </a:srgbClr>
                  </a:outerShdw>
                </a:effectLst>
              </a:rPr>
              <a:t>FACULTAD DE INGENIERIAS</a:t>
            </a:r>
          </a:p>
          <a:p>
            <a:r>
              <a:rPr lang="es-CO" sz="2900" b="1" dirty="0" smtClean="0">
                <a:effectLst>
                  <a:outerShdw blurRad="38100" dist="38100" dir="2700000" algn="tl">
                    <a:srgbClr val="000000">
                      <a:alpha val="43137"/>
                    </a:srgbClr>
                  </a:outerShdw>
                </a:effectLst>
              </a:rPr>
              <a:t>PROGRAMA DE INGENIERÍA ELECTRÓNICA</a:t>
            </a:r>
          </a:p>
          <a:p>
            <a:r>
              <a:rPr lang="es-CO" sz="2900" b="1" dirty="0" smtClean="0">
                <a:effectLst>
                  <a:outerShdw blurRad="38100" dist="38100" dir="2700000" algn="tl">
                    <a:srgbClr val="000000">
                      <a:alpha val="43137"/>
                    </a:srgbClr>
                  </a:outerShdw>
                </a:effectLst>
              </a:rPr>
              <a:t>AREA ELECTRÓNICA</a:t>
            </a:r>
          </a:p>
          <a:p>
            <a:r>
              <a:rPr lang="es-CO" sz="2900" b="1" dirty="0" smtClean="0">
                <a:effectLst>
                  <a:outerShdw blurRad="38100" dist="38100" dir="2700000" algn="tl">
                    <a:srgbClr val="000000">
                      <a:alpha val="43137"/>
                    </a:srgbClr>
                  </a:outerShdw>
                </a:effectLst>
              </a:rPr>
              <a:t>CIRCUITOS I</a:t>
            </a:r>
          </a:p>
          <a:p>
            <a:endParaRPr lang="es-CO" sz="2900" b="1" dirty="0" smtClean="0">
              <a:effectLst>
                <a:outerShdw blurRad="38100" dist="38100" dir="2700000" algn="tl">
                  <a:srgbClr val="000000">
                    <a:alpha val="43137"/>
                  </a:srgbClr>
                </a:outerShdw>
              </a:effectLst>
            </a:endParaRPr>
          </a:p>
          <a:p>
            <a:endParaRPr lang="es-CO" sz="29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94333589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0"/>
            <a:ext cx="8229600" cy="836712"/>
          </a:xfrm>
        </p:spPr>
        <p:txBody>
          <a:bodyPr/>
          <a:lstStyle/>
          <a:p>
            <a:r>
              <a:rPr lang="es-CO" sz="6000" b="1" dirty="0" smtClean="0">
                <a:effectLst>
                  <a:outerShdw blurRad="38100" dist="38100" dir="2700000" algn="tl">
                    <a:srgbClr val="000000">
                      <a:alpha val="43137"/>
                    </a:srgbClr>
                  </a:outerShdw>
                </a:effectLst>
              </a:rPr>
              <a:t>EJEMPLO 1</a:t>
            </a:r>
            <a:endParaRPr lang="es-CO" sz="6000" b="1" dirty="0">
              <a:effectLst>
                <a:outerShdw blurRad="38100" dist="38100" dir="2700000" algn="tl">
                  <a:srgbClr val="000000">
                    <a:alpha val="43137"/>
                  </a:srgbClr>
                </a:outerShdw>
              </a:effectLst>
            </a:endParaRPr>
          </a:p>
        </p:txBody>
      </p:sp>
      <p:sp>
        <p:nvSpPr>
          <p:cNvPr id="3" name="2 Marcador de contenido"/>
          <p:cNvSpPr>
            <a:spLocks noGrp="1"/>
          </p:cNvSpPr>
          <p:nvPr>
            <p:ph idx="1"/>
          </p:nvPr>
        </p:nvSpPr>
        <p:spPr>
          <a:xfrm>
            <a:off x="251520" y="836713"/>
            <a:ext cx="8640960" cy="3528391"/>
          </a:xfrm>
        </p:spPr>
        <p:txBody>
          <a:bodyPr/>
          <a:lstStyle/>
          <a:p>
            <a:pPr marL="0" indent="0" algn="just">
              <a:buNone/>
            </a:pPr>
            <a:r>
              <a:rPr lang="es-CO" sz="2800" b="1" dirty="0">
                <a:effectLst>
                  <a:outerShdw blurRad="38100" dist="38100" dir="2700000" algn="tl">
                    <a:srgbClr val="000000">
                      <a:alpha val="43137"/>
                    </a:srgbClr>
                  </a:outerShdw>
                </a:effectLst>
              </a:rPr>
              <a:t>Un estéreo de automóvil típico consiste en un amplificador de audio 2-W y dos altavoces representados por el diagrama mostrado en la figura. </a:t>
            </a:r>
            <a:r>
              <a:rPr lang="es-CO" sz="2800" b="1" dirty="0" smtClean="0">
                <a:effectLst>
                  <a:outerShdw blurRad="38100" dist="38100" dir="2700000" algn="tl">
                    <a:srgbClr val="000000">
                      <a:alpha val="43137"/>
                    </a:srgbClr>
                  </a:outerShdw>
                </a:effectLst>
              </a:rPr>
              <a:t>El </a:t>
            </a:r>
            <a:r>
              <a:rPr lang="es-CO" sz="2800" b="1" dirty="0">
                <a:effectLst>
                  <a:outerShdw blurRad="38100" dist="38100" dir="2700000" algn="tl">
                    <a:srgbClr val="000000">
                      <a:alpha val="43137"/>
                    </a:srgbClr>
                  </a:outerShdw>
                </a:effectLst>
              </a:rPr>
              <a:t>circuito de salida del amplificador de audio es, en esencia, una fuente de corriente de 430 </a:t>
            </a:r>
            <a:r>
              <a:rPr lang="es-CO" sz="2800" b="1" dirty="0" err="1">
                <a:effectLst>
                  <a:outerShdw blurRad="38100" dist="38100" dir="2700000" algn="tl">
                    <a:srgbClr val="000000">
                      <a:alpha val="43137"/>
                    </a:srgbClr>
                  </a:outerShdw>
                </a:effectLst>
              </a:rPr>
              <a:t>mA</a:t>
            </a:r>
            <a:r>
              <a:rPr lang="es-CO" sz="2800" b="1" dirty="0">
                <a:effectLst>
                  <a:outerShdw blurRad="38100" dist="38100" dir="2700000" algn="tl">
                    <a:srgbClr val="000000">
                      <a:alpha val="43137"/>
                    </a:srgbClr>
                  </a:outerShdw>
                </a:effectLst>
              </a:rPr>
              <a:t>, y cada altavoz tiene una resistencia de 4?. Vamos a determinar la potencia absorbida por los altavoces.</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2748" y="4437112"/>
            <a:ext cx="6772275" cy="2114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511250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0"/>
            <a:ext cx="8229600" cy="548680"/>
          </a:xfrm>
        </p:spPr>
        <p:txBody>
          <a:bodyPr/>
          <a:lstStyle/>
          <a:p>
            <a:r>
              <a:rPr lang="es-CO" sz="4000" b="1" dirty="0" smtClean="0">
                <a:effectLst>
                  <a:outerShdw blurRad="38100" dist="38100" dir="2700000" algn="tl">
                    <a:srgbClr val="000000">
                      <a:alpha val="43137"/>
                    </a:srgbClr>
                  </a:outerShdw>
                </a:effectLst>
              </a:rPr>
              <a:t>EJEMPLO 2 </a:t>
            </a:r>
            <a:endParaRPr lang="es-CO" sz="4000" b="1" dirty="0">
              <a:effectLst>
                <a:outerShdw blurRad="38100" dist="38100" dir="2700000" algn="tl">
                  <a:srgbClr val="000000">
                    <a:alpha val="43137"/>
                  </a:srgbClr>
                </a:outerShdw>
              </a:effectLst>
            </a:endParaRPr>
          </a:p>
        </p:txBody>
      </p:sp>
      <p:sp>
        <p:nvSpPr>
          <p:cNvPr id="3" name="2 Marcador de contenido"/>
          <p:cNvSpPr>
            <a:spLocks noGrp="1"/>
          </p:cNvSpPr>
          <p:nvPr>
            <p:ph idx="1"/>
          </p:nvPr>
        </p:nvSpPr>
        <p:spPr>
          <a:xfrm>
            <a:off x="251520" y="583488"/>
            <a:ext cx="8640960" cy="2557480"/>
          </a:xfrm>
        </p:spPr>
        <p:txBody>
          <a:bodyPr/>
          <a:lstStyle/>
          <a:p>
            <a:pPr marL="0" indent="0" algn="just">
              <a:buNone/>
            </a:pPr>
            <a:r>
              <a:rPr lang="es-CO" sz="2800" dirty="0"/>
              <a:t>Un circuito equivalente para un amplificador de fuente común FET o amplificador de emisor común BJT puede ser modelado por el circuito mostrado en la figura. 2.40a. Deseamos para determinar una expresión para la ganancia del amplificador, que es la relación de la tensión de salida a la tensión de entrada.</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9485" y="3257550"/>
            <a:ext cx="5684515" cy="360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4 Rectángulo"/>
          <p:cNvSpPr/>
          <p:nvPr/>
        </p:nvSpPr>
        <p:spPr>
          <a:xfrm>
            <a:off x="179512" y="3749457"/>
            <a:ext cx="3024336" cy="3108543"/>
          </a:xfrm>
          <a:prstGeom prst="rect">
            <a:avLst/>
          </a:prstGeom>
        </p:spPr>
        <p:txBody>
          <a:bodyPr wrap="square">
            <a:spAutoFit/>
          </a:bodyPr>
          <a:lstStyle/>
          <a:p>
            <a:pPr algn="ctr"/>
            <a:r>
              <a:rPr lang="es-CO" sz="2800" b="1" dirty="0" smtClean="0">
                <a:effectLst>
                  <a:outerShdw blurRad="38100" dist="38100" dir="2700000" algn="tl">
                    <a:srgbClr val="000000">
                      <a:alpha val="43137"/>
                    </a:srgbClr>
                  </a:outerShdw>
                </a:effectLst>
              </a:rPr>
              <a:t>Ejemplo de circuito </a:t>
            </a:r>
            <a:r>
              <a:rPr lang="es-CO" sz="2800" b="1" dirty="0">
                <a:effectLst>
                  <a:outerShdw blurRad="38100" dist="38100" dir="2700000" algn="tl">
                    <a:srgbClr val="000000">
                      <a:alpha val="43137"/>
                    </a:srgbClr>
                  </a:outerShdw>
                </a:effectLst>
              </a:rPr>
              <a:t>que contiene una fuente de corriente controlada por voltaje.</a:t>
            </a:r>
          </a:p>
        </p:txBody>
      </p:sp>
    </p:spTree>
    <p:extLst>
      <p:ext uri="{BB962C8B-B14F-4D97-AF65-F5344CB8AC3E}">
        <p14:creationId xmlns:p14="http://schemas.microsoft.com/office/powerpoint/2010/main" val="42518385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0"/>
            <a:ext cx="8229600" cy="692696"/>
          </a:xfrm>
        </p:spPr>
        <p:txBody>
          <a:bodyPr/>
          <a:lstStyle/>
          <a:p>
            <a:r>
              <a:rPr lang="es-CO" b="1" dirty="0" smtClean="0">
                <a:effectLst>
                  <a:outerShdw blurRad="38100" dist="38100" dir="2700000" algn="tl">
                    <a:srgbClr val="000000">
                      <a:alpha val="43137"/>
                    </a:srgbClr>
                  </a:outerShdw>
                </a:effectLst>
              </a:rPr>
              <a:t>EJEMPLO 2</a:t>
            </a:r>
            <a:endParaRPr lang="es-CO" b="1" dirty="0">
              <a:effectLst>
                <a:outerShdw blurRad="38100" dist="38100" dir="2700000" algn="tl">
                  <a:srgbClr val="000000">
                    <a:alpha val="43137"/>
                  </a:srgbClr>
                </a:outerShdw>
              </a:effectLst>
            </a:endParaRPr>
          </a:p>
        </p:txBody>
      </p:sp>
      <p:sp>
        <p:nvSpPr>
          <p:cNvPr id="3" name="2 Marcador de contenido"/>
          <p:cNvSpPr>
            <a:spLocks noGrp="1"/>
          </p:cNvSpPr>
          <p:nvPr>
            <p:ph idx="1"/>
          </p:nvPr>
        </p:nvSpPr>
        <p:spPr>
          <a:xfrm>
            <a:off x="251520" y="692696"/>
            <a:ext cx="8640960" cy="5472608"/>
          </a:xfrm>
        </p:spPr>
        <p:txBody>
          <a:bodyPr/>
          <a:lstStyle/>
          <a:p>
            <a:pPr marL="0" indent="0" algn="just">
              <a:buNone/>
            </a:pPr>
            <a:r>
              <a:rPr lang="es-CO" dirty="0"/>
              <a:t>Tenga en cuenta que si bien este circuito, que contiene una fuente de corriente controlada por tensión, parece ser algo complicado, en realidad estamos en condiciones </a:t>
            </a:r>
            <a:r>
              <a:rPr lang="es-CO" dirty="0" smtClean="0"/>
              <a:t>de resolverlo </a:t>
            </a:r>
            <a:r>
              <a:rPr lang="es-CO" dirty="0"/>
              <a:t>con las técnicas que hemos estudiado hasta este punto. El bucle en el lado izquierdo, o la entrada al amplificador, </a:t>
            </a:r>
            <a:r>
              <a:rPr lang="es-CO" dirty="0" smtClean="0"/>
              <a:t>esta </a:t>
            </a:r>
            <a:r>
              <a:rPr lang="es-CO" dirty="0"/>
              <a:t>esencialmente </a:t>
            </a:r>
            <a:r>
              <a:rPr lang="es-CO" dirty="0" smtClean="0"/>
              <a:t>separado </a:t>
            </a:r>
            <a:r>
              <a:rPr lang="es-CO" dirty="0"/>
              <a:t>de la porción de salida del amplificador a la derecha</a:t>
            </a:r>
            <a:r>
              <a:rPr lang="es-CO" dirty="0" smtClean="0"/>
              <a:t>. El voltaje a través de R2 es </a:t>
            </a:r>
            <a:r>
              <a:rPr lang="es-CO" dirty="0" err="1" smtClean="0"/>
              <a:t>vg</a:t>
            </a:r>
            <a:r>
              <a:rPr lang="es-CO" dirty="0" smtClean="0"/>
              <a:t>(t), el cual controla la fuente de corriente dependiente.</a:t>
            </a:r>
            <a:endParaRPr lang="es-CO" dirty="0"/>
          </a:p>
        </p:txBody>
      </p:sp>
    </p:spTree>
    <p:extLst>
      <p:ext uri="{BB962C8B-B14F-4D97-AF65-F5344CB8AC3E}">
        <p14:creationId xmlns:p14="http://schemas.microsoft.com/office/powerpoint/2010/main" val="29714677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0"/>
            <a:ext cx="8229600" cy="692696"/>
          </a:xfrm>
        </p:spPr>
        <p:txBody>
          <a:bodyPr/>
          <a:lstStyle/>
          <a:p>
            <a:r>
              <a:rPr lang="es-CO" b="1" dirty="0" smtClean="0">
                <a:effectLst>
                  <a:outerShdw blurRad="38100" dist="38100" dir="2700000" algn="tl">
                    <a:srgbClr val="000000">
                      <a:alpha val="43137"/>
                    </a:srgbClr>
                  </a:outerShdw>
                </a:effectLst>
              </a:rPr>
              <a:t>EJEMPLO 3</a:t>
            </a:r>
            <a:endParaRPr lang="es-CO" b="1" dirty="0">
              <a:effectLst>
                <a:outerShdw blurRad="38100" dist="38100" dir="2700000" algn="tl">
                  <a:srgbClr val="000000">
                    <a:alpha val="43137"/>
                  </a:srgbClr>
                </a:outerShdw>
              </a:effectLst>
            </a:endParaRPr>
          </a:p>
        </p:txBody>
      </p:sp>
      <p:sp>
        <p:nvSpPr>
          <p:cNvPr id="3" name="2 Marcador de contenido"/>
          <p:cNvSpPr>
            <a:spLocks noGrp="1"/>
          </p:cNvSpPr>
          <p:nvPr>
            <p:ph idx="1"/>
          </p:nvPr>
        </p:nvSpPr>
        <p:spPr>
          <a:xfrm>
            <a:off x="251520" y="620689"/>
            <a:ext cx="8640960" cy="3240359"/>
          </a:xfrm>
        </p:spPr>
        <p:txBody>
          <a:bodyPr/>
          <a:lstStyle/>
          <a:p>
            <a:pPr marL="0" indent="0" algn="just">
              <a:buNone/>
            </a:pPr>
            <a:r>
              <a:rPr lang="es-CO" sz="3000" dirty="0"/>
              <a:t>Considere el circuito de la </a:t>
            </a:r>
            <a:r>
              <a:rPr lang="es-CO" sz="3000" dirty="0" smtClean="0"/>
              <a:t>figura, </a:t>
            </a:r>
            <a:r>
              <a:rPr lang="es-CO" sz="3000" dirty="0"/>
              <a:t>que es una aproximación de una instalación de alta tensión de transmisión de corriente continua. Hemos asumido que la parte inferior de la línea de transmisión es un conductor </a:t>
            </a:r>
            <a:r>
              <a:rPr lang="es-CO" sz="3000" dirty="0" smtClean="0"/>
              <a:t>perfecto. La </a:t>
            </a:r>
            <a:r>
              <a:rPr lang="es-CO" sz="3000" dirty="0"/>
              <a:t>carga puede ser representada por una resistencia de valor de </a:t>
            </a:r>
            <a:r>
              <a:rPr lang="es-CO" sz="3000" dirty="0" smtClean="0"/>
              <a:t>183,5</a:t>
            </a:r>
            <a:r>
              <a:rPr lang="el-GR" sz="3000" dirty="0" smtClean="0"/>
              <a:t>Ω</a:t>
            </a:r>
            <a:r>
              <a:rPr lang="es-CO" sz="3000" dirty="0" smtClean="0"/>
              <a:t>.</a:t>
            </a:r>
            <a:endParaRPr lang="es-CO" sz="30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3933056"/>
            <a:ext cx="7128792" cy="2736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8718139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0"/>
            <a:ext cx="8229600" cy="764704"/>
          </a:xfrm>
        </p:spPr>
        <p:txBody>
          <a:bodyPr/>
          <a:lstStyle/>
          <a:p>
            <a:r>
              <a:rPr lang="es-CO" b="1" dirty="0" smtClean="0">
                <a:effectLst>
                  <a:outerShdw blurRad="38100" dist="38100" dir="2700000" algn="tl">
                    <a:srgbClr val="000000">
                      <a:alpha val="43137"/>
                    </a:srgbClr>
                  </a:outerShdw>
                </a:effectLst>
              </a:rPr>
              <a:t>EJEMPLO 3</a:t>
            </a:r>
            <a:endParaRPr lang="es-CO" b="1" dirty="0">
              <a:effectLst>
                <a:outerShdw blurRad="38100" dist="38100" dir="2700000" algn="tl">
                  <a:srgbClr val="000000">
                    <a:alpha val="43137"/>
                  </a:srgbClr>
                </a:outerShdw>
              </a:effectLst>
            </a:endParaRPr>
          </a:p>
        </p:txBody>
      </p:sp>
      <p:sp>
        <p:nvSpPr>
          <p:cNvPr id="3" name="2 Marcador de contenido"/>
          <p:cNvSpPr>
            <a:spLocks noGrp="1"/>
          </p:cNvSpPr>
          <p:nvPr>
            <p:ph idx="1"/>
          </p:nvPr>
        </p:nvSpPr>
        <p:spPr>
          <a:xfrm>
            <a:off x="251520" y="620688"/>
            <a:ext cx="8640960" cy="6120680"/>
          </a:xfrm>
        </p:spPr>
        <p:txBody>
          <a:bodyPr/>
          <a:lstStyle/>
          <a:p>
            <a:pPr marL="0" indent="0" algn="just">
              <a:buNone/>
            </a:pPr>
            <a:r>
              <a:rPr lang="es-CO" sz="2600" dirty="0"/>
              <a:t>Vamos a determinar tanto la potencia entregada a la carga y las pérdidas de potencia en la línea</a:t>
            </a:r>
            <a:r>
              <a:rPr lang="es-CO" sz="2600" dirty="0" smtClean="0"/>
              <a:t>. (</a:t>
            </a:r>
            <a:r>
              <a:rPr lang="es-CO" sz="2600" dirty="0" err="1" smtClean="0"/>
              <a:t>Pload</a:t>
            </a:r>
            <a:r>
              <a:rPr lang="es-CO" sz="2600" dirty="0" smtClean="0"/>
              <a:t> y </a:t>
            </a:r>
            <a:r>
              <a:rPr lang="es-CO" sz="2600" dirty="0" err="1" smtClean="0"/>
              <a:t>Pline</a:t>
            </a:r>
            <a:r>
              <a:rPr lang="es-CO" sz="2600" dirty="0" smtClean="0"/>
              <a:t>).</a:t>
            </a:r>
          </a:p>
          <a:p>
            <a:pPr marL="0" indent="0" algn="just">
              <a:buNone/>
            </a:pPr>
            <a:endParaRPr lang="es-CO" sz="2600" dirty="0"/>
          </a:p>
          <a:p>
            <a:pPr marL="0" indent="0" algn="just">
              <a:buNone/>
            </a:pPr>
            <a:r>
              <a:rPr lang="es-CO" sz="2600" dirty="0"/>
              <a:t>Desde P = VI, supongamos ahora que la compañía eléctrica suministra energía a 200 </a:t>
            </a:r>
            <a:r>
              <a:rPr lang="es-CO" sz="2600" dirty="0" err="1"/>
              <a:t>kV</a:t>
            </a:r>
            <a:r>
              <a:rPr lang="es-CO" sz="2600" dirty="0"/>
              <a:t> y 4 </a:t>
            </a:r>
            <a:r>
              <a:rPr lang="es-CO" sz="2600" dirty="0" err="1"/>
              <a:t>kA</a:t>
            </a:r>
            <a:r>
              <a:rPr lang="es-CO" sz="2600" dirty="0"/>
              <a:t>. ¿Qué efecto tendría esto en nuestra red de transmisión? Sin hacer un solo cálculo, sabemos que debido a que la energía es proporcional al cuadrado de la corriente, no habría un gran aumento en la pérdida de potencia en la línea y, por lo tanto, la eficiencia de la instalación disminuiría sustancialmente. Por eso, en general, la potencia de transmisión en alta tensión y baja corriente</a:t>
            </a:r>
            <a:r>
              <a:rPr lang="es-CO" sz="2600" dirty="0" smtClean="0"/>
              <a:t>. EN GENERAL, SE TRANSMITE POTENCIA CON ALTO VOLTAJE Y BAJA CORRIENTE.</a:t>
            </a:r>
            <a:endParaRPr lang="es-CO" sz="2600" dirty="0"/>
          </a:p>
        </p:txBody>
      </p:sp>
    </p:spTree>
    <p:extLst>
      <p:ext uri="{BB962C8B-B14F-4D97-AF65-F5344CB8AC3E}">
        <p14:creationId xmlns:p14="http://schemas.microsoft.com/office/powerpoint/2010/main" val="86444245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0"/>
            <a:ext cx="8229600" cy="764704"/>
          </a:xfrm>
        </p:spPr>
        <p:txBody>
          <a:bodyPr/>
          <a:lstStyle/>
          <a:p>
            <a:r>
              <a:rPr lang="es-CO" b="1" dirty="0" smtClean="0">
                <a:effectLst>
                  <a:outerShdw blurRad="38100" dist="38100" dir="2700000" algn="tl">
                    <a:srgbClr val="000000">
                      <a:alpha val="43137"/>
                    </a:srgbClr>
                  </a:outerShdw>
                </a:effectLst>
              </a:rPr>
              <a:t>Ejemplo 4</a:t>
            </a:r>
            <a:endParaRPr lang="es-CO" b="1" dirty="0">
              <a:effectLst>
                <a:outerShdw blurRad="38100" dist="38100" dir="2700000" algn="tl">
                  <a:srgbClr val="000000">
                    <a:alpha val="43137"/>
                  </a:srgbClr>
                </a:outerShdw>
              </a:effectLst>
            </a:endParaRPr>
          </a:p>
        </p:txBody>
      </p:sp>
      <p:sp>
        <p:nvSpPr>
          <p:cNvPr id="3" name="2 Marcador de contenido"/>
          <p:cNvSpPr>
            <a:spLocks noGrp="1"/>
          </p:cNvSpPr>
          <p:nvPr>
            <p:ph idx="1"/>
          </p:nvPr>
        </p:nvSpPr>
        <p:spPr>
          <a:xfrm>
            <a:off x="251520" y="692696"/>
            <a:ext cx="8640960" cy="5688632"/>
          </a:xfrm>
        </p:spPr>
        <p:txBody>
          <a:bodyPr/>
          <a:lstStyle/>
          <a:p>
            <a:pPr marL="0" indent="0" algn="just">
              <a:buNone/>
            </a:pPr>
            <a:r>
              <a:rPr lang="es-CO" sz="3100" dirty="0"/>
              <a:t>Los ojos (resistencias) de una estufa eléctrica están frecuentemente hechos de tiras </a:t>
            </a:r>
            <a:r>
              <a:rPr lang="es-CO" sz="3100" dirty="0" smtClean="0"/>
              <a:t>de cromo-níquel de resistencia</a:t>
            </a:r>
            <a:r>
              <a:rPr lang="es-CO" sz="3100" dirty="0"/>
              <a:t>. </a:t>
            </a:r>
            <a:r>
              <a:rPr lang="es-CO" sz="3100" dirty="0" smtClean="0"/>
              <a:t>El funcionamiento </a:t>
            </a:r>
            <a:r>
              <a:rPr lang="es-CO" sz="3100" dirty="0"/>
              <a:t>del ojo es muy simple. Una corriente se pasa a través del elemento de calentamiento haciendo que se disipe la energía en forma de calor</a:t>
            </a:r>
            <a:r>
              <a:rPr lang="es-CO" sz="3100" dirty="0" smtClean="0"/>
              <a:t>.</a:t>
            </a:r>
          </a:p>
          <a:p>
            <a:pPr marL="0" indent="0" algn="just">
              <a:buNone/>
            </a:pPr>
            <a:r>
              <a:rPr lang="es-CO" sz="3100" dirty="0"/>
              <a:t>Además, un interruptor selector de cuatro posiciones, que se muestra en la </a:t>
            </a:r>
            <a:r>
              <a:rPr lang="es-CO" sz="3100" dirty="0" smtClean="0"/>
              <a:t>figura, </a:t>
            </a:r>
            <a:r>
              <a:rPr lang="es-CO" sz="3100" dirty="0"/>
              <a:t>controla la salida de potencia (calor). En este caso, el ojo se compone de dos tiras de </a:t>
            </a:r>
            <a:r>
              <a:rPr lang="es-CO" sz="3100" dirty="0" err="1"/>
              <a:t>nicrom</a:t>
            </a:r>
            <a:r>
              <a:rPr lang="es-CO" sz="3100" dirty="0"/>
              <a:t> modelados por las </a:t>
            </a:r>
            <a:r>
              <a:rPr lang="es-CO" sz="3100" dirty="0" smtClean="0"/>
              <a:t>resistencias  R1 y R2, donde R1 &lt;R2</a:t>
            </a:r>
            <a:endParaRPr lang="es-CO" sz="3100" dirty="0"/>
          </a:p>
        </p:txBody>
      </p:sp>
    </p:spTree>
    <p:extLst>
      <p:ext uri="{BB962C8B-B14F-4D97-AF65-F5344CB8AC3E}">
        <p14:creationId xmlns:p14="http://schemas.microsoft.com/office/powerpoint/2010/main" val="180413655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0"/>
            <a:ext cx="8229600" cy="764704"/>
          </a:xfrm>
        </p:spPr>
        <p:txBody>
          <a:bodyPr/>
          <a:lstStyle/>
          <a:p>
            <a:r>
              <a:rPr lang="es-CO" b="1" dirty="0" smtClean="0">
                <a:effectLst>
                  <a:outerShdw blurRad="38100" dist="38100" dir="2700000" algn="tl">
                    <a:srgbClr val="000000">
                      <a:alpha val="43137"/>
                    </a:srgbClr>
                  </a:outerShdw>
                </a:effectLst>
              </a:rPr>
              <a:t>Ejemplo 4</a:t>
            </a:r>
            <a:endParaRPr lang="es-CO" b="1" dirty="0">
              <a:effectLst>
                <a:outerShdw blurRad="38100" dist="38100" dir="2700000" algn="tl">
                  <a:srgbClr val="000000">
                    <a:alpha val="43137"/>
                  </a:srgbClr>
                </a:outerShdw>
              </a:effectLst>
            </a:endParaRPr>
          </a:p>
        </p:txBody>
      </p:sp>
      <p:sp>
        <p:nvSpPr>
          <p:cNvPr id="3" name="2 Marcador de contenido"/>
          <p:cNvSpPr>
            <a:spLocks noGrp="1"/>
          </p:cNvSpPr>
          <p:nvPr>
            <p:ph idx="1"/>
          </p:nvPr>
        </p:nvSpPr>
        <p:spPr>
          <a:xfrm>
            <a:off x="251520" y="1052736"/>
            <a:ext cx="8640960" cy="5328592"/>
          </a:xfrm>
        </p:spPr>
        <p:txBody>
          <a:bodyPr/>
          <a:lstStyle/>
          <a:p>
            <a:pPr marL="354013" indent="-354013" algn="just">
              <a:buFont typeface="+mj-lt"/>
              <a:buAutoNum type="arabicPeriod"/>
            </a:pPr>
            <a:r>
              <a:rPr lang="es-CO" sz="3400" b="1" dirty="0"/>
              <a:t>¿Cómo deben las posiciones A, B, C, y D ser etiquetados con respecto a los altos valores, medio, bajo y apagado?</a:t>
            </a:r>
          </a:p>
          <a:p>
            <a:pPr marL="354013" indent="-354013" algn="just">
              <a:buFont typeface="+mj-lt"/>
              <a:buAutoNum type="arabicPeriod"/>
            </a:pPr>
            <a:r>
              <a:rPr lang="es-CO" sz="3400" b="1" dirty="0" smtClean="0"/>
              <a:t>Si </a:t>
            </a:r>
            <a:r>
              <a:rPr lang="es-CO" sz="3400" b="1" dirty="0"/>
              <a:t>deseamos que la alta y media corresponden a 2.000 W y 1.200 W, consumo de energía, respectivamente, ¿cuáles son los valores de </a:t>
            </a:r>
            <a:r>
              <a:rPr lang="es-CO" sz="3400" b="1" dirty="0" smtClean="0"/>
              <a:t>R1 y R2?</a:t>
            </a:r>
            <a:endParaRPr lang="es-CO" sz="3400" b="1" dirty="0"/>
          </a:p>
          <a:p>
            <a:pPr marL="354013" indent="-354013" algn="just">
              <a:buFont typeface="+mj-lt"/>
              <a:buAutoNum type="arabicPeriod"/>
            </a:pPr>
            <a:r>
              <a:rPr lang="es-CO" sz="3400" b="1" dirty="0" smtClean="0"/>
              <a:t>¿</a:t>
            </a:r>
            <a:r>
              <a:rPr lang="es-CO" sz="3400" b="1" dirty="0"/>
              <a:t>Cuál es la disipación de potencia en el nivel bajo?</a:t>
            </a:r>
          </a:p>
        </p:txBody>
      </p:sp>
    </p:spTree>
    <p:extLst>
      <p:ext uri="{BB962C8B-B14F-4D97-AF65-F5344CB8AC3E}">
        <p14:creationId xmlns:p14="http://schemas.microsoft.com/office/powerpoint/2010/main" val="56184951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0807" y="1628800"/>
            <a:ext cx="4047137" cy="764704"/>
          </a:xfrm>
        </p:spPr>
        <p:txBody>
          <a:bodyPr/>
          <a:lstStyle/>
          <a:p>
            <a:r>
              <a:rPr lang="es-CO" b="1" dirty="0" smtClean="0">
                <a:effectLst>
                  <a:outerShdw blurRad="38100" dist="38100" dir="2700000" algn="tl">
                    <a:srgbClr val="000000">
                      <a:alpha val="43137"/>
                    </a:srgbClr>
                  </a:outerShdw>
                </a:effectLst>
              </a:rPr>
              <a:t>Ejemplo 4</a:t>
            </a:r>
            <a:endParaRPr lang="es-CO" b="1" dirty="0">
              <a:effectLst>
                <a:outerShdw blurRad="38100" dist="38100" dir="2700000" algn="tl">
                  <a:srgbClr val="000000">
                    <a:alpha val="43137"/>
                  </a:srgbClr>
                </a:outerShdw>
              </a:effectLst>
            </a:endParaRPr>
          </a:p>
        </p:txBody>
      </p:sp>
      <p:sp>
        <p:nvSpPr>
          <p:cNvPr id="3" name="2 Marcador de contenido"/>
          <p:cNvSpPr>
            <a:spLocks noGrp="1"/>
          </p:cNvSpPr>
          <p:nvPr>
            <p:ph idx="1"/>
          </p:nvPr>
        </p:nvSpPr>
        <p:spPr>
          <a:xfrm>
            <a:off x="0" y="3429001"/>
            <a:ext cx="9144000" cy="2664296"/>
          </a:xfrm>
        </p:spPr>
        <p:txBody>
          <a:bodyPr/>
          <a:lstStyle/>
          <a:p>
            <a:pPr marL="0" indent="0" algn="just">
              <a:buNone/>
            </a:pPr>
            <a:r>
              <a:rPr lang="es-CO" sz="2600" b="1" dirty="0"/>
              <a:t>La posición A es el valor off ya no fluye corriente a las resistencias calefactoras. En la posición B, la corriente fluye a través de sólo R2, mientras que en la posición C la corriente fluye a través de sólo </a:t>
            </a:r>
            <a:r>
              <a:rPr lang="es-CO" sz="2600" b="1" dirty="0" smtClean="0"/>
              <a:t>R1. </a:t>
            </a:r>
            <a:r>
              <a:rPr lang="es-CO" sz="2600" b="1" dirty="0"/>
              <a:t>Dado que R1 &lt;R2 más potencia se disipa cuando el interruptor está en la posición C. De este modo, la posición C es el valor medio, la B es el ajuste bajo, y, por eliminación, la posición D es el ajuste alto.</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7944" y="0"/>
            <a:ext cx="5076056" cy="3429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974157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0"/>
            <a:ext cx="8229600" cy="692696"/>
          </a:xfrm>
        </p:spPr>
        <p:txBody>
          <a:bodyPr/>
          <a:lstStyle/>
          <a:p>
            <a:r>
              <a:rPr lang="es-CO" b="1" dirty="0" smtClean="0">
                <a:effectLst>
                  <a:outerShdw blurRad="38100" dist="38100" dir="2700000" algn="tl">
                    <a:srgbClr val="000000">
                      <a:alpha val="43137"/>
                    </a:srgbClr>
                  </a:outerShdw>
                </a:effectLst>
              </a:rPr>
              <a:t>Ejemplo 5</a:t>
            </a:r>
            <a:endParaRPr lang="es-CO" b="1" dirty="0">
              <a:effectLst>
                <a:outerShdw blurRad="38100" dist="38100" dir="2700000" algn="tl">
                  <a:srgbClr val="000000">
                    <a:alpha val="43137"/>
                  </a:srgbClr>
                </a:outerShdw>
              </a:effectLst>
            </a:endParaRPr>
          </a:p>
        </p:txBody>
      </p:sp>
      <p:sp>
        <p:nvSpPr>
          <p:cNvPr id="3" name="2 Marcador de contenido"/>
          <p:cNvSpPr>
            <a:spLocks noGrp="1"/>
          </p:cNvSpPr>
          <p:nvPr>
            <p:ph idx="1"/>
          </p:nvPr>
        </p:nvSpPr>
        <p:spPr>
          <a:xfrm>
            <a:off x="179512" y="692696"/>
            <a:ext cx="8712968" cy="6165304"/>
          </a:xfrm>
        </p:spPr>
        <p:txBody>
          <a:bodyPr/>
          <a:lstStyle/>
          <a:p>
            <a:pPr marL="0" indent="0" algn="just">
              <a:buNone/>
            </a:pPr>
            <a:r>
              <a:rPr lang="es-CO" dirty="0" smtClean="0"/>
              <a:t>¿Alguna vez ha tratado de encender un auto con las luces encendidas? Mientras que le </a:t>
            </a:r>
            <a:r>
              <a:rPr lang="es-CO" dirty="0" err="1" smtClean="0"/>
              <a:t>Starter</a:t>
            </a:r>
            <a:r>
              <a:rPr lang="es-CO" dirty="0" smtClean="0"/>
              <a:t> arranca el motor. Probablemente observará las luces tenues mientras el motor inicia su marcha y luego vuelven a su estado normal por si solas. Podemos crear un modelo para predecir este fenómeno?</a:t>
            </a:r>
          </a:p>
          <a:p>
            <a:pPr marL="0" indent="0" algn="just">
              <a:buNone/>
            </a:pPr>
            <a:r>
              <a:rPr lang="es-CO" dirty="0" smtClean="0"/>
              <a:t>Si se puede, entonces háganlo. Dibujen:</a:t>
            </a:r>
          </a:p>
          <a:p>
            <a:pPr marL="514350" indent="-514350" algn="just">
              <a:buFont typeface="+mj-lt"/>
              <a:buAutoNum type="alphaLcParenR"/>
            </a:pPr>
            <a:r>
              <a:rPr lang="es-CO" dirty="0" smtClean="0"/>
              <a:t>Un modelo de circuito</a:t>
            </a:r>
          </a:p>
          <a:p>
            <a:pPr marL="514350" indent="-514350" algn="just">
              <a:buFont typeface="+mj-lt"/>
              <a:buAutoNum type="alphaLcParenR"/>
            </a:pPr>
            <a:r>
              <a:rPr lang="es-CO" dirty="0" smtClean="0"/>
              <a:t>Un modelo conceptual para analizar el efecto de la corriente en la intensidad de las luces.</a:t>
            </a:r>
            <a:endParaRPr lang="es-CO" dirty="0"/>
          </a:p>
        </p:txBody>
      </p:sp>
    </p:spTree>
    <p:extLst>
      <p:ext uri="{BB962C8B-B14F-4D97-AF65-F5344CB8AC3E}">
        <p14:creationId xmlns:p14="http://schemas.microsoft.com/office/powerpoint/2010/main" val="292215860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99392"/>
            <a:ext cx="8229600" cy="692695"/>
          </a:xfrm>
        </p:spPr>
        <p:txBody>
          <a:bodyPr/>
          <a:lstStyle/>
          <a:p>
            <a:r>
              <a:rPr lang="es-CO" b="1" dirty="0" smtClean="0">
                <a:effectLst>
                  <a:outerShdw blurRad="38100" dist="38100" dir="2700000" algn="tl">
                    <a:srgbClr val="000000">
                      <a:alpha val="43137"/>
                    </a:srgbClr>
                  </a:outerShdw>
                </a:effectLst>
              </a:rPr>
              <a:t>Ejemplo 5</a:t>
            </a:r>
            <a:endParaRPr lang="es-CO" b="1" dirty="0">
              <a:effectLst>
                <a:outerShdw blurRad="38100" dist="38100" dir="2700000" algn="tl">
                  <a:srgbClr val="000000">
                    <a:alpha val="43137"/>
                  </a:srgbClr>
                </a:outerShdw>
              </a:effectLst>
            </a:endParaRPr>
          </a:p>
        </p:txBody>
      </p:sp>
      <p:sp>
        <p:nvSpPr>
          <p:cNvPr id="3" name="2 Marcador de contenido"/>
          <p:cNvSpPr>
            <a:spLocks noGrp="1"/>
          </p:cNvSpPr>
          <p:nvPr>
            <p:ph idx="1"/>
          </p:nvPr>
        </p:nvSpPr>
        <p:spPr>
          <a:xfrm>
            <a:off x="0" y="3140968"/>
            <a:ext cx="9144000" cy="3717032"/>
          </a:xfrm>
        </p:spPr>
        <p:txBody>
          <a:bodyPr/>
          <a:lstStyle/>
          <a:p>
            <a:pPr marL="0" indent="0" algn="just">
              <a:buNone/>
            </a:pPr>
            <a:r>
              <a:rPr lang="es-CO" sz="2300" dirty="0"/>
              <a:t>Tenga en cuenta la </a:t>
            </a:r>
            <a:r>
              <a:rPr lang="es-CO" sz="2300" dirty="0" smtClean="0"/>
              <a:t>resistencia  </a:t>
            </a:r>
            <a:r>
              <a:rPr lang="es-CO" sz="2300" dirty="0" err="1" smtClean="0"/>
              <a:t>Rbatt</a:t>
            </a:r>
            <a:r>
              <a:rPr lang="es-CO" sz="2300" dirty="0" smtClean="0"/>
              <a:t>. </a:t>
            </a:r>
            <a:r>
              <a:rPr lang="es-CO" sz="2300" dirty="0"/>
              <a:t>Se incluye para </a:t>
            </a:r>
            <a:r>
              <a:rPr lang="es-CO" sz="2300" dirty="0" smtClean="0"/>
              <a:t>modelar </a:t>
            </a:r>
            <a:r>
              <a:rPr lang="es-CO" sz="2300" dirty="0"/>
              <a:t>varios mecanismos de pérdida de energía que pueden ocurrir entre la batería y las cargas, es decir, los faros delanteros y de arranque. En primer lugar, existen los procesos químicos dentro de la propia batería que no son 100% eficiente. En segundo lugar, hay las conexiones eléctricas en ambos </a:t>
            </a:r>
            <a:r>
              <a:rPr lang="es-CO" sz="2300" dirty="0" smtClean="0"/>
              <a:t>bornes </a:t>
            </a:r>
            <a:r>
              <a:rPr lang="es-CO" sz="2300" dirty="0"/>
              <a:t>de la batería y las cargas. En tercer lugar, el propio cableado tiene cierta resistencia, aunque esto es generalmente tan pequeño que es despreciable. La suma de estas pérdidas se modela </a:t>
            </a:r>
            <a:r>
              <a:rPr lang="es-CO" sz="2300" dirty="0" smtClean="0"/>
              <a:t>con </a:t>
            </a:r>
            <a:r>
              <a:rPr lang="es-CO" sz="2300" dirty="0" err="1" smtClean="0"/>
              <a:t>Rbatt</a:t>
            </a:r>
            <a:r>
              <a:rPr lang="es-CO" sz="2300" dirty="0" smtClean="0"/>
              <a:t> </a:t>
            </a:r>
            <a:r>
              <a:rPr lang="es-CO" sz="2300" dirty="0"/>
              <a:t>y esperamos que el valor </a:t>
            </a:r>
            <a:r>
              <a:rPr lang="es-CO" sz="2300" dirty="0" smtClean="0"/>
              <a:t>sea </a:t>
            </a:r>
            <a:r>
              <a:rPr lang="es-CO" sz="2300" dirty="0"/>
              <a:t>pequeño. El valor razonable es de 25 </a:t>
            </a:r>
            <a:r>
              <a:rPr lang="es-CO" sz="2300" dirty="0" smtClean="0"/>
              <a:t>m</a:t>
            </a:r>
            <a:r>
              <a:rPr lang="el-GR" sz="2300" dirty="0" smtClean="0"/>
              <a:t>Ω</a:t>
            </a:r>
            <a:r>
              <a:rPr lang="es-CO" sz="2300" dirty="0" smtClean="0"/>
              <a:t>.</a:t>
            </a:r>
            <a:endParaRPr lang="es-CO" sz="2300"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891" y="620688"/>
            <a:ext cx="8382000" cy="2447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550840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1"/>
            <a:ext cx="8229600" cy="692695"/>
          </a:xfrm>
        </p:spPr>
        <p:txBody>
          <a:bodyPr/>
          <a:lstStyle/>
          <a:p>
            <a:r>
              <a:rPr lang="es-CO" b="1" dirty="0" smtClean="0">
                <a:effectLst>
                  <a:outerShdw blurRad="38100" dist="38100" dir="2700000" algn="tl">
                    <a:srgbClr val="000000">
                      <a:alpha val="43137"/>
                    </a:srgbClr>
                  </a:outerShdw>
                </a:effectLst>
              </a:rPr>
              <a:t>Ejemplo 5</a:t>
            </a:r>
            <a:endParaRPr lang="es-CO" b="1" dirty="0">
              <a:effectLst>
                <a:outerShdw blurRad="38100" dist="38100" dir="2700000" algn="tl">
                  <a:srgbClr val="000000">
                    <a:alpha val="43137"/>
                  </a:srgbClr>
                </a:outerShdw>
              </a:effectLst>
            </a:endParaRPr>
          </a:p>
        </p:txBody>
      </p:sp>
      <p:sp>
        <p:nvSpPr>
          <p:cNvPr id="3" name="2 Marcador de contenido"/>
          <p:cNvSpPr>
            <a:spLocks noGrp="1"/>
          </p:cNvSpPr>
          <p:nvPr>
            <p:ph idx="1"/>
          </p:nvPr>
        </p:nvSpPr>
        <p:spPr>
          <a:xfrm>
            <a:off x="107504" y="764704"/>
            <a:ext cx="8928992" cy="5616624"/>
          </a:xfrm>
        </p:spPr>
        <p:txBody>
          <a:bodyPr/>
          <a:lstStyle/>
          <a:p>
            <a:pPr marL="0" indent="0" algn="just">
              <a:buNone/>
            </a:pPr>
            <a:r>
              <a:rPr lang="es-CO" sz="2800" dirty="0" smtClean="0"/>
              <a:t>A </a:t>
            </a:r>
            <a:r>
              <a:rPr lang="es-CO" sz="2800" dirty="0"/>
              <a:t>continuación se aborda el motor de arranque. Cuando se activa, un arrancador automóvil típico establecer entre 90 y 120 A. Utilizaremos 100 A como un número típico. Por último, los faros se basará mucho menos corriente-tal vez sólo 1 A. Ahora tenemos valores a utilizar en nuestro circuito modelo</a:t>
            </a:r>
            <a:r>
              <a:rPr lang="es-CO" sz="2800" dirty="0" smtClean="0"/>
              <a:t>.</a:t>
            </a:r>
          </a:p>
          <a:p>
            <a:pPr marL="0" indent="0" algn="just">
              <a:buNone/>
            </a:pPr>
            <a:r>
              <a:rPr lang="es-CO" sz="2800" dirty="0"/>
              <a:t>Supongamos en primer lugar que el </a:t>
            </a:r>
            <a:r>
              <a:rPr lang="es-CO" sz="2800" dirty="0" smtClean="0"/>
              <a:t>switch de encendido esta apagado. Mediante </a:t>
            </a:r>
            <a:r>
              <a:rPr lang="es-CO" sz="2800" dirty="0"/>
              <a:t>la aplicación de KCL en el nodo VL marcado nos encontramos con que </a:t>
            </a:r>
            <a:r>
              <a:rPr lang="es-CO" sz="2800" dirty="0" smtClean="0"/>
              <a:t>el voltaje aplicada </a:t>
            </a:r>
            <a:r>
              <a:rPr lang="es-CO" sz="2800" dirty="0"/>
              <a:t>a los faros delanteros puede ser escrito </a:t>
            </a:r>
            <a:r>
              <a:rPr lang="es-CO" sz="2800" dirty="0" smtClean="0"/>
              <a:t>como:</a:t>
            </a:r>
          </a:p>
          <a:p>
            <a:pPr marL="0" indent="0" algn="ctr">
              <a:buNone/>
            </a:pPr>
            <a:r>
              <a:rPr lang="es-CO" sz="2800" b="1" dirty="0" smtClean="0">
                <a:solidFill>
                  <a:srgbClr val="FFFF00"/>
                </a:solidFill>
                <a:effectLst>
                  <a:outerShdw blurRad="38100" dist="38100" dir="2700000" algn="tl">
                    <a:srgbClr val="000000">
                      <a:alpha val="43137"/>
                    </a:srgbClr>
                  </a:outerShdw>
                </a:effectLst>
              </a:rPr>
              <a:t>VL = Vbatt - IHLRbatt</a:t>
            </a:r>
            <a:endParaRPr lang="es-CO" sz="2800" b="1" dirty="0">
              <a:solidFill>
                <a:srgbClr val="FFFF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6135175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1"/>
            <a:ext cx="8229600" cy="692695"/>
          </a:xfrm>
        </p:spPr>
        <p:txBody>
          <a:bodyPr/>
          <a:lstStyle/>
          <a:p>
            <a:r>
              <a:rPr lang="es-CO" b="1" dirty="0" smtClean="0">
                <a:effectLst>
                  <a:outerShdw blurRad="38100" dist="38100" dir="2700000" algn="tl">
                    <a:srgbClr val="000000">
                      <a:alpha val="43137"/>
                    </a:srgbClr>
                  </a:outerShdw>
                </a:effectLst>
              </a:rPr>
              <a:t>Ejemplo 5</a:t>
            </a:r>
            <a:endParaRPr lang="es-CO" b="1" dirty="0">
              <a:effectLst>
                <a:outerShdw blurRad="38100" dist="38100" dir="2700000" algn="tl">
                  <a:srgbClr val="000000">
                    <a:alpha val="43137"/>
                  </a:srgbClr>
                </a:outerShdw>
              </a:effectLst>
            </a:endParaRPr>
          </a:p>
        </p:txBody>
      </p:sp>
      <p:sp>
        <p:nvSpPr>
          <p:cNvPr id="3" name="2 Marcador de contenido"/>
          <p:cNvSpPr>
            <a:spLocks noGrp="1"/>
          </p:cNvSpPr>
          <p:nvPr>
            <p:ph idx="1"/>
          </p:nvPr>
        </p:nvSpPr>
        <p:spPr>
          <a:xfrm>
            <a:off x="107504" y="836712"/>
            <a:ext cx="8928992" cy="5616624"/>
          </a:xfrm>
        </p:spPr>
        <p:txBody>
          <a:bodyPr/>
          <a:lstStyle/>
          <a:p>
            <a:pPr marL="0" indent="0" algn="just">
              <a:buNone/>
            </a:pPr>
            <a:r>
              <a:rPr lang="es-CO" sz="2900" dirty="0" smtClean="0"/>
              <a:t>Si energizamos el arranque tenemos aplicando LCK:</a:t>
            </a:r>
          </a:p>
          <a:p>
            <a:pPr marL="0" indent="0" algn="ctr">
              <a:buNone/>
            </a:pPr>
            <a:r>
              <a:rPr lang="es-CO" sz="2900" b="1" dirty="0" smtClean="0">
                <a:effectLst>
                  <a:outerShdw blurRad="38100" dist="38100" dir="2700000" algn="tl">
                    <a:srgbClr val="000000">
                      <a:alpha val="43137"/>
                    </a:srgbClr>
                  </a:outerShdw>
                </a:effectLst>
              </a:rPr>
              <a:t>VL = Vbatt – (IHL+ </a:t>
            </a:r>
            <a:r>
              <a:rPr lang="es-CO" sz="2900" b="1" dirty="0" err="1" smtClean="0">
                <a:effectLst>
                  <a:outerShdw blurRad="38100" dist="38100" dir="2700000" algn="tl">
                    <a:srgbClr val="000000">
                      <a:alpha val="43137"/>
                    </a:srgbClr>
                  </a:outerShdw>
                </a:effectLst>
              </a:rPr>
              <a:t>Istart</a:t>
            </a:r>
            <a:r>
              <a:rPr lang="es-CO" sz="2900" b="1" dirty="0" smtClean="0">
                <a:effectLst>
                  <a:outerShdw blurRad="38100" dist="38100" dir="2700000" algn="tl">
                    <a:srgbClr val="000000">
                      <a:alpha val="43137"/>
                    </a:srgbClr>
                  </a:outerShdw>
                </a:effectLst>
              </a:rPr>
              <a:t>) </a:t>
            </a:r>
            <a:r>
              <a:rPr lang="es-CO" sz="2900" b="1" dirty="0" err="1" smtClean="0">
                <a:effectLst>
                  <a:outerShdw blurRad="38100" dist="38100" dir="2700000" algn="tl">
                    <a:srgbClr val="000000">
                      <a:alpha val="43137"/>
                    </a:srgbClr>
                  </a:outerShdw>
                </a:effectLst>
              </a:rPr>
              <a:t>Rbatt</a:t>
            </a:r>
            <a:endParaRPr lang="es-CO" sz="2900" b="1" dirty="0" smtClean="0">
              <a:effectLst>
                <a:outerShdw blurRad="38100" dist="38100" dir="2700000" algn="tl">
                  <a:srgbClr val="000000">
                    <a:alpha val="43137"/>
                  </a:srgbClr>
                </a:outerShdw>
              </a:effectLst>
            </a:endParaRPr>
          </a:p>
          <a:p>
            <a:pPr marL="0" indent="0" algn="ctr">
              <a:buNone/>
            </a:pPr>
            <a:endParaRPr lang="es-CO" sz="2900" b="1" dirty="0" smtClean="0">
              <a:effectLst>
                <a:outerShdw blurRad="38100" dist="38100" dir="2700000" algn="tl">
                  <a:srgbClr val="000000">
                    <a:alpha val="43137"/>
                  </a:srgbClr>
                </a:outerShdw>
              </a:effectLst>
            </a:endParaRPr>
          </a:p>
          <a:p>
            <a:pPr marL="0" indent="0" algn="just">
              <a:buNone/>
            </a:pPr>
            <a:r>
              <a:rPr lang="es-CO" sz="2900" b="1" dirty="0">
                <a:effectLst>
                  <a:outerShdw blurRad="38100" dist="38100" dir="2700000" algn="tl">
                    <a:srgbClr val="000000">
                      <a:alpha val="43137"/>
                    </a:srgbClr>
                  </a:outerShdw>
                </a:effectLst>
              </a:rPr>
              <a:t>Ahora bien, el voltaje a través de los faros es sólo 9,25 V. No me extraña que los faros </a:t>
            </a:r>
            <a:r>
              <a:rPr lang="es-CO" sz="2900" b="1" dirty="0" err="1" smtClean="0">
                <a:effectLst>
                  <a:outerShdw blurRad="38100" dist="38100" dir="2700000" algn="tl">
                    <a:srgbClr val="000000">
                      <a:alpha val="43137"/>
                    </a:srgbClr>
                  </a:outerShdw>
                </a:effectLst>
              </a:rPr>
              <a:t>tenuen</a:t>
            </a:r>
            <a:r>
              <a:rPr lang="es-CO" sz="2900" b="1" dirty="0" smtClean="0">
                <a:effectLst>
                  <a:outerShdw blurRad="38100" dist="38100" dir="2700000" algn="tl">
                    <a:srgbClr val="000000">
                      <a:alpha val="43137"/>
                    </a:srgbClr>
                  </a:outerShdw>
                </a:effectLst>
              </a:rPr>
              <a:t>!!!!! </a:t>
            </a:r>
            <a:r>
              <a:rPr lang="es-CO" sz="2900" b="1" dirty="0">
                <a:effectLst>
                  <a:outerShdw blurRad="38100" dist="38100" dir="2700000" algn="tl">
                    <a:srgbClr val="000000">
                      <a:alpha val="43137"/>
                    </a:srgbClr>
                  </a:outerShdw>
                </a:effectLst>
              </a:rPr>
              <a:t>¿Cómo </a:t>
            </a:r>
            <a:r>
              <a:rPr lang="es-CO" sz="2900" b="1" dirty="0" smtClean="0">
                <a:effectLst>
                  <a:outerShdw blurRad="38100" dist="38100" dir="2700000" algn="tl">
                    <a:srgbClr val="000000">
                      <a:alpha val="43137"/>
                    </a:srgbClr>
                  </a:outerShdw>
                </a:effectLst>
              </a:rPr>
              <a:t>las </a:t>
            </a:r>
            <a:r>
              <a:rPr lang="es-CO" sz="2900" b="1" dirty="0" err="1" smtClean="0">
                <a:effectLst>
                  <a:outerShdw blurRad="38100" dist="38100" dir="2700000" algn="tl">
                    <a:srgbClr val="000000">
                      <a:alpha val="43137"/>
                    </a:srgbClr>
                  </a:outerShdw>
                </a:effectLst>
              </a:rPr>
              <a:t>corrosiónes</a:t>
            </a:r>
            <a:r>
              <a:rPr lang="es-CO" sz="2900" b="1" dirty="0" smtClean="0">
                <a:effectLst>
                  <a:outerShdw blurRad="38100" dist="38100" dir="2700000" algn="tl">
                    <a:srgbClr val="000000">
                      <a:alpha val="43137"/>
                    </a:srgbClr>
                  </a:outerShdw>
                </a:effectLst>
              </a:rPr>
              <a:t> </a:t>
            </a:r>
            <a:r>
              <a:rPr lang="es-CO" sz="2900" b="1" dirty="0">
                <a:effectLst>
                  <a:outerShdw blurRad="38100" dist="38100" dir="2700000" algn="tl">
                    <a:srgbClr val="000000">
                      <a:alpha val="43137"/>
                    </a:srgbClr>
                  </a:outerShdw>
                </a:effectLst>
              </a:rPr>
              <a:t>o conexiones sueltas en los bornes de la batería </a:t>
            </a:r>
            <a:r>
              <a:rPr lang="es-CO" sz="2900" b="1" dirty="0" smtClean="0">
                <a:effectLst>
                  <a:outerShdw blurRad="38100" dist="38100" dir="2700000" algn="tl">
                    <a:srgbClr val="000000">
                      <a:alpha val="43137"/>
                    </a:srgbClr>
                  </a:outerShdw>
                </a:effectLst>
              </a:rPr>
              <a:t>pueden cambiar </a:t>
            </a:r>
            <a:r>
              <a:rPr lang="es-CO" sz="2900" b="1" dirty="0">
                <a:effectLst>
                  <a:outerShdw blurRad="38100" dist="38100" dir="2700000" algn="tl">
                    <a:srgbClr val="000000">
                      <a:alpha val="43137"/>
                    </a:srgbClr>
                  </a:outerShdw>
                </a:effectLst>
              </a:rPr>
              <a:t>la situación? En este caso, podríamos esperar que la calidad de la conexión de la batería </a:t>
            </a:r>
            <a:r>
              <a:rPr lang="es-CO" sz="2900" b="1" dirty="0" smtClean="0">
                <a:effectLst>
                  <a:outerShdw blurRad="38100" dist="38100" dir="2700000" algn="tl">
                    <a:srgbClr val="000000">
                      <a:alpha val="43137"/>
                    </a:srgbClr>
                  </a:outerShdw>
                </a:effectLst>
              </a:rPr>
              <a:t>a la carga se deteriore, </a:t>
            </a:r>
            <a:r>
              <a:rPr lang="es-CO" sz="2900" b="1" dirty="0">
                <a:effectLst>
                  <a:outerShdw blurRad="38100" dist="38100" dir="2700000" algn="tl">
                    <a:srgbClr val="000000">
                      <a:alpha val="43137"/>
                    </a:srgbClr>
                  </a:outerShdw>
                </a:effectLst>
              </a:rPr>
              <a:t>lo que aumenta </a:t>
            </a:r>
            <a:r>
              <a:rPr lang="es-CO" sz="2900" b="1" dirty="0" err="1">
                <a:effectLst>
                  <a:outerShdw blurRad="38100" dist="38100" dir="2700000" algn="tl">
                    <a:srgbClr val="000000">
                      <a:alpha val="43137"/>
                    </a:srgbClr>
                  </a:outerShdw>
                </a:effectLst>
              </a:rPr>
              <a:t>Rbatt</a:t>
            </a:r>
            <a:r>
              <a:rPr lang="es-CO" sz="2900" b="1" dirty="0">
                <a:effectLst>
                  <a:outerShdw blurRad="38100" dist="38100" dir="2700000" algn="tl">
                    <a:srgbClr val="000000">
                      <a:alpha val="43137"/>
                    </a:srgbClr>
                  </a:outerShdw>
                </a:effectLst>
              </a:rPr>
              <a:t> y </a:t>
            </a:r>
            <a:r>
              <a:rPr lang="es-CO" sz="2900" b="1" dirty="0" smtClean="0">
                <a:effectLst>
                  <a:outerShdw blurRad="38100" dist="38100" dir="2700000" algn="tl">
                    <a:srgbClr val="000000">
                      <a:alpha val="43137"/>
                    </a:srgbClr>
                  </a:outerShdw>
                </a:effectLst>
              </a:rPr>
              <a:t>agrava la </a:t>
            </a:r>
            <a:r>
              <a:rPr lang="es-CO" sz="2900" b="1" dirty="0">
                <a:effectLst>
                  <a:outerShdw blurRad="38100" dist="38100" dir="2700000" algn="tl">
                    <a:srgbClr val="000000">
                      <a:alpha val="43137"/>
                    </a:srgbClr>
                  </a:outerShdw>
                </a:effectLst>
              </a:rPr>
              <a:t>atenuación </a:t>
            </a:r>
            <a:r>
              <a:rPr lang="es-CO" sz="2900" b="1" dirty="0" smtClean="0">
                <a:effectLst>
                  <a:outerShdw blurRad="38100" dist="38100" dir="2700000" algn="tl">
                    <a:srgbClr val="000000">
                      <a:alpha val="43137"/>
                    </a:srgbClr>
                  </a:outerShdw>
                </a:effectLst>
              </a:rPr>
              <a:t>de las luces.</a:t>
            </a:r>
          </a:p>
        </p:txBody>
      </p:sp>
    </p:spTree>
    <p:extLst>
      <p:ext uri="{BB962C8B-B14F-4D97-AF65-F5344CB8AC3E}">
        <p14:creationId xmlns:p14="http://schemas.microsoft.com/office/powerpoint/2010/main" val="358536266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0"/>
            <a:ext cx="8229600" cy="836712"/>
          </a:xfrm>
        </p:spPr>
        <p:txBody>
          <a:bodyPr/>
          <a:lstStyle/>
          <a:p>
            <a:r>
              <a:rPr lang="es-CO" b="1" dirty="0" smtClean="0">
                <a:effectLst>
                  <a:outerShdw blurRad="38100" dist="38100" dir="2700000" algn="tl">
                    <a:srgbClr val="000000">
                      <a:alpha val="43137"/>
                    </a:srgbClr>
                  </a:outerShdw>
                </a:effectLst>
              </a:rPr>
              <a:t>Ejemplo 6</a:t>
            </a:r>
            <a:endParaRPr lang="es-CO" b="1" dirty="0">
              <a:effectLst>
                <a:outerShdw blurRad="38100" dist="38100" dir="2700000" algn="tl">
                  <a:srgbClr val="000000">
                    <a:alpha val="43137"/>
                  </a:srgbClr>
                </a:outerShdw>
              </a:effectLst>
            </a:endParaRPr>
          </a:p>
        </p:txBody>
      </p:sp>
      <p:sp>
        <p:nvSpPr>
          <p:cNvPr id="3" name="2 Marcador de contenido"/>
          <p:cNvSpPr>
            <a:spLocks noGrp="1"/>
          </p:cNvSpPr>
          <p:nvPr>
            <p:ph idx="1"/>
          </p:nvPr>
        </p:nvSpPr>
        <p:spPr>
          <a:xfrm>
            <a:off x="0" y="692696"/>
            <a:ext cx="9144000" cy="2736304"/>
          </a:xfrm>
        </p:spPr>
        <p:txBody>
          <a:bodyPr/>
          <a:lstStyle/>
          <a:p>
            <a:pPr marL="0" indent="0" algn="just">
              <a:buNone/>
            </a:pPr>
            <a:r>
              <a:rPr lang="es-CO" sz="2200" dirty="0"/>
              <a:t>Un circuito de puente de </a:t>
            </a:r>
            <a:r>
              <a:rPr lang="es-CO" sz="2200" dirty="0" err="1"/>
              <a:t>Wheatstone</a:t>
            </a:r>
            <a:r>
              <a:rPr lang="es-CO" sz="2200" dirty="0"/>
              <a:t> es un dispositivo preciso para medir la resistencia. Este circuito, que se muestra en la figura, se utiliza para medir </a:t>
            </a:r>
            <a:r>
              <a:rPr lang="es-CO" sz="2200" dirty="0" smtClean="0"/>
              <a:t>una </a:t>
            </a:r>
            <a:r>
              <a:rPr lang="es-CO" sz="2200" dirty="0"/>
              <a:t>resistencia desconocida </a:t>
            </a:r>
            <a:r>
              <a:rPr lang="es-CO" sz="2200" dirty="0" err="1"/>
              <a:t>Rx</a:t>
            </a:r>
            <a:r>
              <a:rPr lang="es-CO" sz="2200" dirty="0"/>
              <a:t>. La </a:t>
            </a:r>
            <a:r>
              <a:rPr lang="es-CO" sz="2200" dirty="0" smtClean="0"/>
              <a:t>pierna </a:t>
            </a:r>
            <a:r>
              <a:rPr lang="es-CO" sz="2200" dirty="0"/>
              <a:t>central del circuito contiene un galvanómetro, que es un dispositivo muy sensible que puede ser utilizado para medir la corriente en el rango de microamperios. Cuando la resistencia desconocida se conecta al puente, R3 se ajusta hasta que la corriente en el galvanómetro es cero, momento en el que el puente está equilibrado. En esta condición equilibrada</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3587896"/>
            <a:ext cx="5472608" cy="326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3379439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44624"/>
            <a:ext cx="8229600" cy="792088"/>
          </a:xfrm>
        </p:spPr>
        <p:txBody>
          <a:bodyPr/>
          <a:lstStyle/>
          <a:p>
            <a:r>
              <a:rPr lang="es-CO" b="1" dirty="0" smtClean="0">
                <a:effectLst>
                  <a:outerShdw blurRad="38100" dist="38100" dir="2700000" algn="tl">
                    <a:srgbClr val="000000">
                      <a:alpha val="43137"/>
                    </a:srgbClr>
                  </a:outerShdw>
                </a:effectLst>
              </a:rPr>
              <a:t>EJEMPLO 6</a:t>
            </a:r>
            <a:endParaRPr lang="es-CO" b="1" dirty="0">
              <a:effectLst>
                <a:outerShdw blurRad="38100" dist="38100" dir="2700000" algn="tl">
                  <a:srgbClr val="000000">
                    <a:alpha val="43137"/>
                  </a:srgbClr>
                </a:outerShdw>
              </a:effectLst>
            </a:endParaRPr>
          </a:p>
        </p:txBody>
      </p:sp>
      <p:sp>
        <p:nvSpPr>
          <p:cNvPr id="3" name="2 Marcador de contenido"/>
          <p:cNvSpPr>
            <a:spLocks noGrp="1"/>
          </p:cNvSpPr>
          <p:nvPr>
            <p:ph idx="1"/>
          </p:nvPr>
        </p:nvSpPr>
        <p:spPr>
          <a:xfrm>
            <a:off x="251520" y="4755678"/>
            <a:ext cx="8435280" cy="1769665"/>
          </a:xfrm>
        </p:spPr>
        <p:txBody>
          <a:bodyPr/>
          <a:lstStyle/>
          <a:p>
            <a:pPr marL="0" indent="0" algn="just">
              <a:buNone/>
            </a:pPr>
            <a:r>
              <a:rPr lang="es-CO" dirty="0"/>
              <a:t>Vamos a determinar el valor de R3 en vacío cuando el puente está equilibrado y su valor cuando la resistencia de los medidores de deformación cambia a </a:t>
            </a:r>
            <a:r>
              <a:rPr lang="es-CO" dirty="0" smtClean="0"/>
              <a:t>120.24</a:t>
            </a:r>
            <a:r>
              <a:rPr lang="el-GR" dirty="0" smtClean="0"/>
              <a:t>Ω</a:t>
            </a:r>
            <a:r>
              <a:rPr lang="es-CO" dirty="0" smtClean="0"/>
              <a:t> </a:t>
            </a:r>
            <a:r>
              <a:rPr lang="es-CO" dirty="0"/>
              <a:t>bajo carga.</a:t>
            </a:r>
            <a:r>
              <a:rPr lang="en-US" dirty="0" smtClean="0"/>
              <a:t>.</a:t>
            </a:r>
            <a:endParaRPr lang="es-CO" dirty="0"/>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0175" y="764704"/>
            <a:ext cx="6343650" cy="399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2082226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http://upload.wikimedia.org/wikipedia/commons/5/5c/Puente_Wheatstone.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35994"/>
            <a:ext cx="8388300" cy="4337670"/>
          </a:xfrm>
          <a:prstGeom prst="rect">
            <a:avLst/>
          </a:prstGeom>
          <a:noFill/>
          <a:extLst>
            <a:ext uri="{909E8E84-426E-40DD-AFC4-6F175D3DCCD1}">
              <a14:hiddenFill xmlns:a14="http://schemas.microsoft.com/office/drawing/2010/main">
                <a:solidFill>
                  <a:srgbClr val="FFFFFF"/>
                </a:solidFill>
              </a14:hiddenFill>
            </a:ext>
          </a:extLst>
        </p:spPr>
      </p:pic>
      <p:sp>
        <p:nvSpPr>
          <p:cNvPr id="2" name="1 CuadroTexto"/>
          <p:cNvSpPr txBox="1"/>
          <p:nvPr/>
        </p:nvSpPr>
        <p:spPr>
          <a:xfrm>
            <a:off x="179512" y="4437112"/>
            <a:ext cx="8640960" cy="2354491"/>
          </a:xfrm>
          <a:prstGeom prst="rect">
            <a:avLst/>
          </a:prstGeom>
          <a:noFill/>
        </p:spPr>
        <p:txBody>
          <a:bodyPr wrap="square" rtlCol="0">
            <a:spAutoFit/>
          </a:bodyPr>
          <a:lstStyle/>
          <a:p>
            <a:pPr algn="just"/>
            <a:r>
              <a:rPr lang="es-CO" sz="2100" b="1" dirty="0" smtClean="0">
                <a:effectLst>
                  <a:outerShdw blurRad="38100" dist="38100" dir="2700000" algn="tl">
                    <a:srgbClr val="000000">
                      <a:alpha val="43137"/>
                    </a:srgbClr>
                  </a:outerShdw>
                </a:effectLst>
              </a:rPr>
              <a:t>La plataforma esta apoyada en cilindros en los que se montan deformímetros, los cuales miden la deformación cuando los cilindros se comban por el efecto de la carga, están conectados a un puente de </a:t>
            </a:r>
            <a:r>
              <a:rPr lang="es-CO" sz="2100" b="1" dirty="0" err="1" smtClean="0">
                <a:effectLst>
                  <a:outerShdw blurRad="38100" dist="38100" dir="2700000" algn="tl">
                    <a:srgbClr val="000000">
                      <a:alpha val="43137"/>
                    </a:srgbClr>
                  </a:outerShdw>
                </a:effectLst>
              </a:rPr>
              <a:t>wheatstone</a:t>
            </a:r>
            <a:r>
              <a:rPr lang="es-CO" sz="2100" b="1" dirty="0" smtClean="0">
                <a:effectLst>
                  <a:outerShdw blurRad="38100" dist="38100" dir="2700000" algn="tl">
                    <a:srgbClr val="000000">
                      <a:alpha val="43137"/>
                    </a:srgbClr>
                  </a:outerShdw>
                </a:effectLst>
              </a:rPr>
              <a:t> como se muestra en la figura de la diapositiva anterior.  Él tiene una resistencia sin carga de 120</a:t>
            </a:r>
            <a:r>
              <a:rPr lang="el-GR" sz="2100" b="1" dirty="0" smtClean="0">
                <a:effectLst>
                  <a:outerShdw blurRad="38100" dist="38100" dir="2700000" algn="tl">
                    <a:srgbClr val="000000">
                      <a:alpha val="43137"/>
                    </a:srgbClr>
                  </a:outerShdw>
                </a:effectLst>
              </a:rPr>
              <a:t>Ω</a:t>
            </a:r>
            <a:r>
              <a:rPr lang="es-CO" sz="2100" b="1" dirty="0" smtClean="0">
                <a:effectLst>
                  <a:outerShdw blurRad="38100" dist="38100" dir="2700000" algn="tl">
                    <a:srgbClr val="000000">
                      <a:alpha val="43137"/>
                    </a:srgbClr>
                  </a:outerShdw>
                </a:effectLst>
              </a:rPr>
              <a:t>,. El resistor variable en el puente es un dispositivo de precisión calibrado.</a:t>
            </a:r>
            <a:endParaRPr lang="es-CO" sz="21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052123546"/>
      </p:ext>
    </p:extLst>
  </p:cSld>
  <p:clrMapOvr>
    <a:masterClrMapping/>
  </p:clrMapOvr>
  <p:timing>
    <p:tnLst>
      <p:par>
        <p:cTn id="1" dur="indefinite" restart="never" nodeType="tmRoot"/>
      </p:par>
    </p:tnLst>
  </p:timing>
</p:sld>
</file>

<file path=ppt/theme/theme1.xml><?xml version="1.0" encoding="utf-8"?>
<a:theme xmlns:a="http://schemas.openxmlformats.org/drawingml/2006/main" name="control">
  <a:themeElements>
    <a:clrScheme name="Modèle par défau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Modèle par défaut">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Modèle par défau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Modèle par défau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Modèle par défau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Modèle par défau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Modèle par défau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Modèle par défau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Modèle par défaut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Modèle par défau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Modèle par défau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Modèle par défau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Modèle par défau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Modèle par défau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control</Template>
  <TotalTime>243</TotalTime>
  <Words>1309</Words>
  <Application>Microsoft Office PowerPoint</Application>
  <PresentationFormat>Presentación en pantalla (4:3)</PresentationFormat>
  <Paragraphs>48</Paragraphs>
  <Slides>16</Slides>
  <Notes>0</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16</vt:i4>
      </vt:variant>
    </vt:vector>
  </HeadingPairs>
  <TitlesOfParts>
    <vt:vector size="18" baseType="lpstr">
      <vt:lpstr>Arial</vt:lpstr>
      <vt:lpstr>control</vt:lpstr>
      <vt:lpstr>APLICACIONES LEYES DE KIRCHOFF</vt:lpstr>
      <vt:lpstr>EJEMPLO 1</vt:lpstr>
      <vt:lpstr>EJEMPLO 2 </vt:lpstr>
      <vt:lpstr>EJEMPLO 2</vt:lpstr>
      <vt:lpstr>EJEMPLO 3</vt:lpstr>
      <vt:lpstr>EJEMPLO 3</vt:lpstr>
      <vt:lpstr>Ejemplo 4</vt:lpstr>
      <vt:lpstr>Ejemplo 4</vt:lpstr>
      <vt:lpstr>Ejemplo 4</vt:lpstr>
      <vt:lpstr>Ejemplo 5</vt:lpstr>
      <vt:lpstr>Ejemplo 5</vt:lpstr>
      <vt:lpstr>Ejemplo 5</vt:lpstr>
      <vt:lpstr>Ejemplo 5</vt:lpstr>
      <vt:lpstr>Ejemplo 6</vt:lpstr>
      <vt:lpstr>EJEMPLO 6</vt:lpstr>
      <vt:lpstr>Presentación de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APLICACIONES LEYES DE KIRCHOFF</dc:title>
  <dc:creator>USUARIO WINDOWS</dc:creator>
  <cp:lastModifiedBy>USUARIO WINDOWS</cp:lastModifiedBy>
  <cp:revision>18</cp:revision>
  <dcterms:created xsi:type="dcterms:W3CDTF">2013-08-15T01:52:29Z</dcterms:created>
  <dcterms:modified xsi:type="dcterms:W3CDTF">2014-02-19T20:12:13Z</dcterms:modified>
</cp:coreProperties>
</file>